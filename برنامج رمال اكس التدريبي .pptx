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Cairo SemiBold"/>
      <p:regular r:id="rId21"/>
      <p:bold r:id="rId22"/>
    </p:embeddedFont>
    <p:embeddedFont>
      <p:font typeface="Cairo Medium"/>
      <p:regular r:id="rId23"/>
      <p:bold r:id="rId24"/>
    </p:embeddedFont>
    <p:embeddedFont>
      <p:font typeface="Plus Jakarta Sans ExtraBold"/>
      <p:bold r:id="rId25"/>
      <p:boldItalic r:id="rId26"/>
    </p:embeddedFont>
    <p:embeddedFont>
      <p:font typeface="Plus Jakarta Sans"/>
      <p:regular r:id="rId27"/>
      <p:bold r:id="rId28"/>
      <p:italic r:id="rId29"/>
      <p:boldItalic r:id="rId30"/>
    </p:embeddedFont>
    <p:embeddedFont>
      <p:font typeface="Cairo ExtraBold"/>
      <p:bold r:id="rId31"/>
    </p:embeddedFont>
    <p:embeddedFont>
      <p:font typeface="Cairo"/>
      <p:regular r:id="rId32"/>
      <p:bold r:id="rId33"/>
    </p:embeddedFont>
    <p:embeddedFont>
      <p:font typeface="Plus Jakarta Sans SemiBold"/>
      <p:regular r:id="rId34"/>
      <p:bold r:id="rId35"/>
      <p:italic r:id="rId36"/>
      <p:boldItalic r:id="rId37"/>
    </p:embeddedFont>
    <p:embeddedFont>
      <p:font typeface="Plus Jakarta Sans Medium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D11A7E-7252-4D57-88C8-AF6385D00162}">
  <a:tblStyle styleId="{77D11A7E-7252-4D57-88C8-AF6385D0016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Medium-italic.fntdata"/><Relationship Id="rId20" Type="http://schemas.openxmlformats.org/officeDocument/2006/relationships/slide" Target="slides/slide14.xml"/><Relationship Id="rId41" Type="http://schemas.openxmlformats.org/officeDocument/2006/relationships/font" Target="fonts/PlusJakartaSansMedium-boldItalic.fntdata"/><Relationship Id="rId22" Type="http://schemas.openxmlformats.org/officeDocument/2006/relationships/font" Target="fonts/CairoSemiBold-bold.fntdata"/><Relationship Id="rId21" Type="http://schemas.openxmlformats.org/officeDocument/2006/relationships/font" Target="fonts/CairoSemiBold-regular.fntdata"/><Relationship Id="rId24" Type="http://schemas.openxmlformats.org/officeDocument/2006/relationships/font" Target="fonts/CairoMedium-bold.fntdata"/><Relationship Id="rId23" Type="http://schemas.openxmlformats.org/officeDocument/2006/relationships/font" Target="fonts/Cair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ExtraBold-boldItalic.fntdata"/><Relationship Id="rId25" Type="http://schemas.openxmlformats.org/officeDocument/2006/relationships/font" Target="fonts/PlusJakartaSansExtraBold-bold.fntdata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airoExtraBold-bold.fntdata"/><Relationship Id="rId30" Type="http://schemas.openxmlformats.org/officeDocument/2006/relationships/font" Target="fonts/PlusJakartaSans-boldItalic.fntdata"/><Relationship Id="rId11" Type="http://schemas.openxmlformats.org/officeDocument/2006/relationships/slide" Target="slides/slide5.xml"/><Relationship Id="rId33" Type="http://schemas.openxmlformats.org/officeDocument/2006/relationships/font" Target="fonts/Cairo-bold.fntdata"/><Relationship Id="rId10" Type="http://schemas.openxmlformats.org/officeDocument/2006/relationships/slide" Target="slides/slide4.xml"/><Relationship Id="rId32" Type="http://schemas.openxmlformats.org/officeDocument/2006/relationships/font" Target="fonts/Cairo-regular.fntdata"/><Relationship Id="rId13" Type="http://schemas.openxmlformats.org/officeDocument/2006/relationships/slide" Target="slides/slide7.xml"/><Relationship Id="rId35" Type="http://schemas.openxmlformats.org/officeDocument/2006/relationships/font" Target="fonts/PlusJakartaSansSemiBold-bold.fntdata"/><Relationship Id="rId12" Type="http://schemas.openxmlformats.org/officeDocument/2006/relationships/slide" Target="slides/slide6.xml"/><Relationship Id="rId34" Type="http://schemas.openxmlformats.org/officeDocument/2006/relationships/font" Target="fonts/PlusJakartaSans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PlusJakartaSans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PlusJakartaSansSemiBold-italic.fntdata"/><Relationship Id="rId17" Type="http://schemas.openxmlformats.org/officeDocument/2006/relationships/slide" Target="slides/slide11.xml"/><Relationship Id="rId39" Type="http://schemas.openxmlformats.org/officeDocument/2006/relationships/font" Target="fonts/PlusJakartaSansMedium-bold.fntdata"/><Relationship Id="rId16" Type="http://schemas.openxmlformats.org/officeDocument/2006/relationships/slide" Target="slides/slide10.xml"/><Relationship Id="rId38" Type="http://schemas.openxmlformats.org/officeDocument/2006/relationships/font" Target="fonts/PlusJakartaSans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1ee8ff73b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1ee8ff73b_2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1ee8ff73b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f1ee8ff73b_2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1ee8ff73b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f1ee8ff73b_2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1ee8ff73b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f1ee8ff73b_2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1ee8ff73b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f1ee8ff73b_2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1ee8ff73b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f1ee8ff73b_2_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1ee8ff73b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f1ee8ff73b_2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1ee8ff73b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f1ee8ff73b_2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1ee8ff73b_2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f1ee8ff73b_2_2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1ee8ff73b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f1ee8ff73b_2_2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1ee8ff73b_2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f1ee8ff73b_2_2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1ee8ff73b_2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g3f1ee8ff73b_2_2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1ee8ff73b_2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g3f1ee8ff73b_2_3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1ee8ff73b_2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g3f1ee8ff73b_2_3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3549254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9.png"/><Relationship Id="rId5" Type="http://schemas.openxmlformats.org/officeDocument/2006/relationships/image" Target="../media/image8.png"/><Relationship Id="rId6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6.png"/><Relationship Id="rId13" Type="http://schemas.openxmlformats.org/officeDocument/2006/relationships/image" Target="../media/image6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37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8.png"/><Relationship Id="rId7" Type="http://schemas.openxmlformats.org/officeDocument/2006/relationships/image" Target="../media/image29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Relationship Id="rId7" Type="http://schemas.openxmlformats.org/officeDocument/2006/relationships/image" Target="../media/image8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8.png"/><Relationship Id="rId8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Relationship Id="rId7" Type="http://schemas.openxmlformats.org/officeDocument/2006/relationships/image" Target="../media/image8.png"/><Relationship Id="rId8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6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5" Type="http://schemas.openxmlformats.org/officeDocument/2006/relationships/image" Target="../media/image8.png"/><Relationship Id="rId6" Type="http://schemas.openxmlformats.org/officeDocument/2006/relationships/image" Target="../media/image37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8.png"/><Relationship Id="rId7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1579" l="0" r="0" t="1569"/>
          <a:stretch/>
        </p:blipFill>
        <p:spPr>
          <a:xfrm>
            <a:off x="3214688" y="3571875"/>
            <a:ext cx="2714700" cy="22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644" y="4707731"/>
            <a:ext cx="7986712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6">
            <a:alphaModFix/>
          </a:blip>
          <a:srcRect b="0" l="2217" r="2217" t="0"/>
          <a:stretch/>
        </p:blipFill>
        <p:spPr>
          <a:xfrm>
            <a:off x="3679031" y="952500"/>
            <a:ext cx="1785900" cy="111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62000" y="2190750"/>
            <a:ext cx="7620000" cy="70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ar" sz="4600">
                <a:solidFill>
                  <a:srgbClr val="17101E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العنوان الرئيسي</a:t>
            </a:r>
            <a:endParaRPr b="0" sz="4600">
              <a:solidFill>
                <a:srgbClr val="17101E"/>
              </a:solidFill>
              <a:latin typeface="Cairo ExtraBold"/>
              <a:ea typeface="Cairo ExtraBold"/>
              <a:cs typeface="Cairo ExtraBold"/>
              <a:sym typeface="Cairo ExtraBol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048000"/>
            <a:ext cx="7620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ar" sz="2000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العنوان الفرعي</a:t>
            </a:r>
            <a:endParaRPr b="0" sz="2000">
              <a:solidFill>
                <a:srgbClr val="EDA155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529513" y="4772025"/>
            <a:ext cx="10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657600" y="4797028"/>
            <a:ext cx="893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 Training Platform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78644" y="4789884"/>
            <a:ext cx="99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095750" y="3667125"/>
            <a:ext cx="2095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ar" sz="1000">
                <a:solidFill>
                  <a:srgbClr val="8E839C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Rimal X Core Curriculum</a:t>
            </a:r>
            <a:endParaRPr b="0" sz="1000">
              <a:solidFill>
                <a:srgbClr val="8E839C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143250" y="3667125"/>
            <a:ext cx="762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" sz="1000">
                <a:solidFill>
                  <a:srgbClr val="8E839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2026</a:t>
            </a:r>
            <a:endParaRPr b="0" sz="1000">
              <a:solidFill>
                <a:srgbClr val="8E839C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-850106" y="-850106"/>
            <a:ext cx="2286000" cy="2286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734F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7565231" y="3921919"/>
            <a:ext cx="2286000" cy="2286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DA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1092994" y="3971925"/>
            <a:ext cx="42900" cy="42900"/>
          </a:xfrm>
          <a:prstGeom prst="roundRect">
            <a:avLst>
              <a:gd fmla="val 50000" name="adj"/>
            </a:avLst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3437" y="4788694"/>
            <a:ext cx="706752" cy="354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2181" y="1125029"/>
            <a:ext cx="2543175" cy="1703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00413" y="1125029"/>
            <a:ext cx="2543175" cy="1703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644" y="1125029"/>
            <a:ext cx="2543175" cy="1703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730823" y="4797028"/>
            <a:ext cx="760809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Syllabus Overview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78644" y="4789884"/>
            <a:ext cx="1143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93856" y="1346485"/>
            <a:ext cx="392906" cy="39290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200775" y="1882266"/>
            <a:ext cx="2295287" cy="15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ar" sz="10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01.عنوان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200775" y="2189447"/>
            <a:ext cx="2185988" cy="168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ar" sz="700" u="none" cap="none" strike="noStrike">
                <a:solidFill>
                  <a:srgbClr val="7D7287"/>
                </a:solidFill>
                <a:latin typeface="Cairo"/>
                <a:ea typeface="Cairo"/>
                <a:cs typeface="Cairo"/>
                <a:sym typeface="Cairo"/>
              </a:rPr>
              <a:t>تفاصيل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72088" y="1346485"/>
            <a:ext cx="392906" cy="39290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3479006" y="1882266"/>
            <a:ext cx="2295287" cy="15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ar" sz="10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02. عنوان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3479006" y="2189447"/>
            <a:ext cx="2185988" cy="168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ar" sz="700" u="none" cap="none" strike="noStrike">
                <a:solidFill>
                  <a:srgbClr val="7D7287"/>
                </a:solidFill>
                <a:latin typeface="Cairo"/>
                <a:ea typeface="Cairo"/>
                <a:cs typeface="Cairo"/>
                <a:sym typeface="Cairo"/>
              </a:rPr>
              <a:t>تفاصيل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7" name="Google Shape;11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50319" y="1346485"/>
            <a:ext cx="392906" cy="39290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757238" y="1882266"/>
            <a:ext cx="2295287" cy="15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ar" sz="10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03. عنوان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757238" y="2189447"/>
            <a:ext cx="2185988" cy="168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ar" sz="700" u="none" cap="none" strike="noStrike">
                <a:solidFill>
                  <a:srgbClr val="7D7287"/>
                </a:solidFill>
                <a:latin typeface="Cairo"/>
                <a:ea typeface="Cairo"/>
                <a:cs typeface="Cairo"/>
                <a:sym typeface="Cairo"/>
              </a:rPr>
              <a:t>تفاصيل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18872" y="147150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79244" y="1471501"/>
            <a:ext cx="178594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675334" y="1471501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184666" y="435769"/>
            <a:ext cx="8273534" cy="43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خريطة المحاور </a:t>
            </a:r>
            <a:r>
              <a:rPr b="0" i="0" lang="ar" sz="18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التدريبية للمنهج</a:t>
            </a: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b="0" i="0" lang="ar" sz="1800" u="none" cap="none" strike="noStrike">
                <a:solidFill>
                  <a:srgbClr val="8E839C"/>
                </a:solidFill>
                <a:latin typeface="Cairo Medium"/>
                <a:ea typeface="Cairo Medium"/>
                <a:cs typeface="Cairo Medium"/>
                <a:sym typeface="Cairo Medium"/>
              </a:rPr>
              <a:t>Course Curriculum Map &amp; Tech Focus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8529638" y="435769"/>
            <a:ext cx="35719" cy="439229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214711" y="1970723"/>
            <a:ext cx="70104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ar" sz="3600" u="none" cap="none" strike="noStrike">
                <a:solidFill>
                  <a:srgbClr val="EDA15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3398639" y="2150269"/>
            <a:ext cx="397549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ar" sz="2100" u="none" cap="none" strike="noStrike">
                <a:solidFill>
                  <a:srgbClr val="17101E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المحور الأول: الذكاء الاصطناعي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3064669" y="2764631"/>
            <a:ext cx="464343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none" cap="none" strike="noStrike">
                <a:solidFill>
                  <a:srgbClr val="734F96"/>
                </a:solidFill>
                <a:latin typeface="Cairo"/>
                <a:ea typeface="Cairo"/>
                <a:cs typeface="Cairo"/>
                <a:sym typeface="Cairo"/>
              </a:rPr>
              <a:t>تمكين رواد الأعمال من توظيف الحلول الذكية والتعلم الآلي لابتكار خدمات رقمية مستدامة وقابلة للتوسع.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707981" y="3336131"/>
            <a:ext cx="1000125" cy="28575"/>
          </a:xfrm>
          <a:prstGeom prst="roundRect">
            <a:avLst>
              <a:gd fmla="val 50000" name="adj"/>
            </a:avLst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3393281" y="4797028"/>
            <a:ext cx="1435894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One: AI &amp; Machine Learning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578644" y="4789884"/>
            <a:ext cx="1143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565231" y="3921919"/>
            <a:ext cx="2286000" cy="2286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DA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875" y="1053591"/>
            <a:ext cx="3850481" cy="12072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644" y="1053591"/>
            <a:ext cx="3850481" cy="12072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3623667" y="4797028"/>
            <a:ext cx="98226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Technical Dimensions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78644" y="4789884"/>
            <a:ext cx="121444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900613" y="1239329"/>
            <a:ext cx="3652956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ar" sz="1000" u="none" cap="none" strike="noStrike">
                <a:solidFill>
                  <a:srgbClr val="734F96"/>
                </a:solidFill>
                <a:latin typeface="Cairo"/>
                <a:ea typeface="Cairo"/>
                <a:cs typeface="Cairo"/>
                <a:sym typeface="Cairo"/>
              </a:rPr>
              <a:t>خوارزميات تعلم الآلة (Machine Learning)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4900613" y="1560797"/>
            <a:ext cx="34790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534C5A"/>
                </a:solidFill>
                <a:latin typeface="Cairo"/>
                <a:ea typeface="Cairo"/>
                <a:cs typeface="Cairo"/>
                <a:sym typeface="Cairo"/>
              </a:rPr>
              <a:t>تعتمد على تدريب النماذج الإحصائية للتعرف على الأنماط من البيانات المهيكلة دون برمجة صريحة. تشمل خوارزميات الانحدار، التصنيف، والتجميع الذكي للتنبؤ بسلوكيات المستخدمين داخل البيئة التجريبية للمشروع.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764381" y="1239329"/>
            <a:ext cx="3652956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ar" sz="1000" u="none" cap="none" strike="noStrike">
                <a:solidFill>
                  <a:srgbClr val="734F96"/>
                </a:solidFill>
                <a:latin typeface="Cairo"/>
                <a:ea typeface="Cairo"/>
                <a:cs typeface="Cairo"/>
                <a:sym typeface="Cairo"/>
              </a:rPr>
              <a:t>الشبكات العصبية العميقة (Deep Learning)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764381" y="1560797"/>
            <a:ext cx="34790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534C5A"/>
                </a:solidFill>
                <a:latin typeface="Cairo"/>
                <a:ea typeface="Cairo"/>
                <a:cs typeface="Cairo"/>
                <a:sym typeface="Cairo"/>
              </a:rPr>
              <a:t>تستخدم طبقات متعددة من الشبكات العصبية الاصطناعية لمحاكاة الدماغ البشري في معالجة البيانات غير المهيكلة (مثل الصور والنصوص). يمثل العمود الفقري لتقنيات الرؤية الحاسوبية والمعالجة اللغوية المتقدمة.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84666" y="435769"/>
            <a:ext cx="8273534" cy="43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الذكاء الاصطناعي </a:t>
            </a:r>
            <a:r>
              <a:rPr b="0" i="0" lang="ar" sz="18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بين التعلم الآلي والعميق</a:t>
            </a: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b="0" i="0" lang="ar" sz="1800" u="none" cap="none" strike="noStrike">
                <a:solidFill>
                  <a:srgbClr val="8E839C"/>
                </a:solidFill>
                <a:latin typeface="Cairo Medium"/>
                <a:ea typeface="Cairo Medium"/>
                <a:cs typeface="Cairo Medium"/>
                <a:sym typeface="Cairo Medium"/>
              </a:rPr>
              <a:t>Machine Learning vs. Deep Learning Concepts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8529638" y="435769"/>
            <a:ext cx="35719" cy="439229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619" y="1082166"/>
            <a:ext cx="185738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619" y="1407877"/>
            <a:ext cx="185738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9619" y="1733587"/>
            <a:ext cx="185738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3546872" y="4797028"/>
            <a:ext cx="1128713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Business Implementation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78644" y="4789884"/>
            <a:ext cx="1143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578644" y="1082166"/>
            <a:ext cx="7700962" cy="1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57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ar" sz="900" u="none" cap="none" strike="noStrike">
                <a:solidFill>
                  <a:srgbClr val="4A4252"/>
                </a:solidFill>
                <a:latin typeface="Cairo"/>
                <a:ea typeface="Cairo"/>
                <a:cs typeface="Cairo"/>
                <a:sym typeface="Cairo"/>
              </a:rPr>
              <a:t>تحليلات سلوك العملاء التنبؤية:</a:t>
            </a:r>
            <a:r>
              <a:rPr b="0" i="0" lang="ar" sz="900" u="none" cap="none" strike="noStrike">
                <a:solidFill>
                  <a:srgbClr val="4A4252"/>
                </a:solidFill>
                <a:latin typeface="Cairo"/>
                <a:ea typeface="Cairo"/>
                <a:cs typeface="Cairo"/>
                <a:sym typeface="Cairo"/>
              </a:rPr>
              <a:t> بناء نماذج مخصصة لتوقع انخفاض العملاء وتحسين استراتيجيات الاحتفاظ الرقمي.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578644" y="1407877"/>
            <a:ext cx="7700962" cy="1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57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ar" sz="900" u="none" cap="none" strike="noStrike">
                <a:solidFill>
                  <a:srgbClr val="4A4252"/>
                </a:solidFill>
                <a:latin typeface="Cairo"/>
                <a:ea typeface="Cairo"/>
                <a:cs typeface="Cairo"/>
                <a:sym typeface="Cairo"/>
              </a:rPr>
              <a:t>الأتمتة التفاعلية الذكية:</a:t>
            </a:r>
            <a:r>
              <a:rPr b="0" i="0" lang="ar" sz="900" u="none" cap="none" strike="noStrike">
                <a:solidFill>
                  <a:srgbClr val="4A4252"/>
                </a:solidFill>
                <a:latin typeface="Cairo"/>
                <a:ea typeface="Cairo"/>
                <a:cs typeface="Cairo"/>
                <a:sym typeface="Cairo"/>
              </a:rPr>
              <a:t> توظيف النماذج اللغوية الكبيرة (LLMs) لإدارة علاقات المستفيدين تلقائياً وبدقة فائقة.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78644" y="1733587"/>
            <a:ext cx="7700962" cy="1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575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ar" sz="900" u="none" cap="none" strike="noStrike">
                <a:solidFill>
                  <a:srgbClr val="4A4252"/>
                </a:solidFill>
                <a:latin typeface="Cairo"/>
                <a:ea typeface="Cairo"/>
                <a:cs typeface="Cairo"/>
                <a:sym typeface="Cairo"/>
              </a:rPr>
              <a:t>إدارة سلاسل الإمداد الذكية:</a:t>
            </a:r>
            <a:r>
              <a:rPr b="0" i="0" lang="ar" sz="900" u="none" cap="none" strike="noStrike">
                <a:solidFill>
                  <a:srgbClr val="4A4252"/>
                </a:solidFill>
                <a:latin typeface="Cairo"/>
                <a:ea typeface="Cairo"/>
                <a:cs typeface="Cairo"/>
                <a:sym typeface="Cairo"/>
              </a:rPr>
              <a:t> استخدام النمذجة التنبؤية لتقدير مستويات الطلب وتقليل التكاليف التشغيلية للمخزون.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6769" y="1135745"/>
            <a:ext cx="71438" cy="78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2481" y="1461455"/>
            <a:ext cx="100013" cy="78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3913" y="1787165"/>
            <a:ext cx="57150" cy="7858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184666" y="435769"/>
            <a:ext cx="8273534" cy="43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حالات الاستخدام </a:t>
            </a:r>
            <a:r>
              <a:rPr b="0" i="0" lang="ar" sz="18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التقنية لرواد الأعمال</a:t>
            </a: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b="0" i="0" lang="ar" sz="1800" u="none" cap="none" strike="noStrike">
                <a:solidFill>
                  <a:srgbClr val="8E839C"/>
                </a:solidFill>
                <a:latin typeface="Cairo Medium"/>
                <a:ea typeface="Cairo Medium"/>
                <a:cs typeface="Cairo Medium"/>
                <a:sym typeface="Cairo Medium"/>
              </a:rPr>
              <a:t>Strategic Business Applications of AI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8529638" y="435769"/>
            <a:ext cx="35719" cy="439229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4581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528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7136130" y="2101870"/>
            <a:ext cx="78676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ar" sz="3600" u="none" cap="none" strike="noStrike">
                <a:solidFill>
                  <a:srgbClr val="EDA15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2865002" y="2205633"/>
            <a:ext cx="434304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ar" sz="2100" u="none" cap="none" strike="noStrike">
                <a:solidFill>
                  <a:srgbClr val="17101E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المحور الثاني: بنية شبكات الحاسب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3064669" y="2764631"/>
            <a:ext cx="464343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none" cap="none" strike="noStrike">
                <a:solidFill>
                  <a:srgbClr val="734F96"/>
                </a:solidFill>
                <a:latin typeface="Cairo"/>
                <a:ea typeface="Cairo"/>
                <a:cs typeface="Cairo"/>
                <a:sym typeface="Cairo"/>
              </a:rPr>
              <a:t>فهم الأساسيات الهندسية لنقل البيانات وحزم البروتوكولات لضمان استجابة وموثوقية الهياكل السحابية للمشاريع الريادية.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707981" y="3336131"/>
            <a:ext cx="1000125" cy="28575"/>
          </a:xfrm>
          <a:prstGeom prst="roundRect">
            <a:avLst>
              <a:gd fmla="val 50000" name="adj"/>
            </a:avLst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3398639" y="4797028"/>
            <a:ext cx="142517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Two: Network Architecture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578644" y="4789884"/>
            <a:ext cx="1143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7565231" y="3921919"/>
            <a:ext cx="2286000" cy="2286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DA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8519" y="1053591"/>
            <a:ext cx="1836836" cy="10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8598" y="1053591"/>
            <a:ext cx="1836836" cy="10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8677" y="1053591"/>
            <a:ext cx="1836836" cy="10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755" y="1053591"/>
            <a:ext cx="1836836" cy="10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670101" y="4797028"/>
            <a:ext cx="882253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OSI Model Mechanics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578644" y="4789884"/>
            <a:ext cx="1143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864251" y="1217897"/>
            <a:ext cx="1565374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ar" sz="600" u="none" cap="none" strike="noStrike">
                <a:solidFill>
                  <a:srgbClr val="EDA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6864251" y="1367916"/>
            <a:ext cx="164364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ar" sz="9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طبقة التطبيقات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864251" y="1625091"/>
            <a:ext cx="1565374" cy="27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ar" sz="700" u="none" cap="none" strike="noStrike">
                <a:solidFill>
                  <a:srgbClr val="7D7287"/>
                </a:solidFill>
                <a:latin typeface="Cairo"/>
                <a:ea typeface="Cairo"/>
                <a:cs typeface="Cairo"/>
                <a:sym typeface="Cairo"/>
              </a:rPr>
              <a:t>مرحلة توليد البيانات وتفاعل المستخدم عبر بروتوكولات مثل HTTP و HTTPS.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4814329" y="1217897"/>
            <a:ext cx="1565374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ar" sz="600" u="none" cap="none" strike="noStrike">
                <a:solidFill>
                  <a:srgbClr val="EDA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4814329" y="1367916"/>
            <a:ext cx="164364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ar" sz="9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طبقة النقل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4814329" y="1625091"/>
            <a:ext cx="1565374" cy="27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ar" sz="700" u="none" cap="none" strike="noStrike">
                <a:solidFill>
                  <a:srgbClr val="7D7287"/>
                </a:solidFill>
                <a:latin typeface="Cairo"/>
                <a:ea typeface="Cairo"/>
                <a:cs typeface="Cairo"/>
                <a:sym typeface="Cairo"/>
              </a:rPr>
              <a:t>تفتيت البيانات وتأمين الاتصال عبر بروتوكول التحكم في الإرسال TCP.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2764408" y="1217897"/>
            <a:ext cx="1565374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ar" sz="600" u="none" cap="none" strike="noStrike">
                <a:solidFill>
                  <a:srgbClr val="EDA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2764408" y="1367916"/>
            <a:ext cx="164364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ar" sz="9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طبقة الشبكة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2764408" y="1625091"/>
            <a:ext cx="1565374" cy="27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ar" sz="700" u="none" cap="none" strike="noStrike">
                <a:solidFill>
                  <a:srgbClr val="7D7287"/>
                </a:solidFill>
                <a:latin typeface="Cairo"/>
                <a:ea typeface="Cairo"/>
                <a:cs typeface="Cairo"/>
                <a:sym typeface="Cairo"/>
              </a:rPr>
              <a:t>توجيه الحزم وتعيين عناوين الإنترنت المنطقية باستخدام بروتوكول IP.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714486" y="1217897"/>
            <a:ext cx="1565374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ar" sz="600" u="none" cap="none" strike="noStrike">
                <a:solidFill>
                  <a:srgbClr val="EDA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714486" y="1367916"/>
            <a:ext cx="164364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ar" sz="9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الطبقة الفيزيائية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714486" y="1625091"/>
            <a:ext cx="1565374" cy="27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ar" sz="700" u="none" cap="none" strike="noStrike">
                <a:solidFill>
                  <a:srgbClr val="7D7287"/>
                </a:solidFill>
                <a:latin typeface="Cairo"/>
                <a:ea typeface="Cairo"/>
                <a:cs typeface="Cairo"/>
                <a:sym typeface="Cairo"/>
              </a:rPr>
              <a:t>تحويل البيانات إلى نبضات كهربائية أو ضوئية وإرسالها عبر الأسلاك والموجات.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184666" y="435769"/>
            <a:ext cx="8273534" cy="43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رحلة حزمة البيانات </a:t>
            </a:r>
            <a:r>
              <a:rPr b="0" i="0" lang="ar" sz="18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في طبقات الشبكة</a:t>
            </a: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b="0" i="0" lang="ar" sz="1800" u="none" cap="none" strike="noStrike">
                <a:solidFill>
                  <a:srgbClr val="8E839C"/>
                </a:solidFill>
                <a:latin typeface="Cairo Medium"/>
                <a:ea typeface="Cairo Medium"/>
                <a:cs typeface="Cairo Medium"/>
                <a:sym typeface="Cairo Medium"/>
              </a:rPr>
              <a:t>Data Transmission Flow &amp; OSI Layers Model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8529638" y="435769"/>
            <a:ext cx="35719" cy="439229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6724174" y="2140803"/>
            <a:ext cx="86534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ar" sz="3600" u="none" cap="none" strike="noStrike">
                <a:solidFill>
                  <a:srgbClr val="EDA15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922150" y="2271713"/>
            <a:ext cx="381047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ar" sz="2100" u="none" cap="none" strike="noStrike">
                <a:solidFill>
                  <a:srgbClr val="17101E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المحور الثالث: الأمن السيبراني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3064669" y="2764631"/>
            <a:ext cx="464343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none" cap="none" strike="noStrike">
                <a:solidFill>
                  <a:srgbClr val="734F96"/>
                </a:solidFill>
                <a:latin typeface="Cairo"/>
                <a:ea typeface="Cairo"/>
                <a:cs typeface="Cairo"/>
                <a:sym typeface="Cairo"/>
              </a:rPr>
              <a:t>تعزيز أمن الأصول الرقمية، وحماية الخصوصية للمستخدمين وتطوير نماذج مرنة قادرة على كشف التهديدات ومكافحتها بكفاءة.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6707981" y="3336131"/>
            <a:ext cx="1000125" cy="28575"/>
          </a:xfrm>
          <a:prstGeom prst="roundRect">
            <a:avLst>
              <a:gd fmla="val 50000" name="adj"/>
            </a:avLst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3402211" y="4797028"/>
            <a:ext cx="142517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Three: Cybersecurity Core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78644" y="4789884"/>
            <a:ext cx="121444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7565231" y="3921919"/>
            <a:ext cx="2286000" cy="2286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DA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9156" y="1053591"/>
            <a:ext cx="3886200" cy="1443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1053591"/>
            <a:ext cx="3886200" cy="1443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6300" y="1489360"/>
            <a:ext cx="3871913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88" y="1489360"/>
            <a:ext cx="3871913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3646884" y="4797028"/>
            <a:ext cx="92868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Cyber Security Tactics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78644" y="4789884"/>
            <a:ext cx="1143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686300" y="1060735"/>
            <a:ext cx="3871913" cy="428625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829175" y="1167891"/>
            <a:ext cx="35861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ar" sz="90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الأمن الهجومي (Red Teaming)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85788" y="1060735"/>
            <a:ext cx="3871913" cy="428625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728663" y="1167891"/>
            <a:ext cx="35861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ar" sz="90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الأمن الدفاعي (Blue Teaming)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843463" y="1646522"/>
            <a:ext cx="35575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534C5A"/>
                </a:solidFill>
                <a:latin typeface="Cairo"/>
                <a:ea typeface="Cairo"/>
                <a:cs typeface="Cairo"/>
                <a:sym typeface="Cairo"/>
              </a:rPr>
              <a:t>• اختبار الاختراق ومحاكاة الهجمات الواقعية لاكتشاف الثغرات.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843463" y="1903697"/>
            <a:ext cx="35575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534C5A"/>
                </a:solidFill>
                <a:latin typeface="Cairo"/>
                <a:ea typeface="Cairo"/>
                <a:cs typeface="Cairo"/>
                <a:sym typeface="Cairo"/>
              </a:rPr>
              <a:t>• اختبار كفاءة أنظمة المراقبة وقوة استجابة فريق الحماية.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843463" y="2160872"/>
            <a:ext cx="35575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534C5A"/>
                </a:solidFill>
                <a:latin typeface="Cairo"/>
                <a:ea typeface="Cairo"/>
                <a:cs typeface="Cairo"/>
                <a:sym typeface="Cairo"/>
              </a:rPr>
              <a:t>• مساعدة رواد الأعمال في الكشف الاستباقي عن عيوب البرمجيات.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742950" y="1646522"/>
            <a:ext cx="35575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534C5A"/>
                </a:solidFill>
                <a:latin typeface="Cairo"/>
                <a:ea typeface="Cairo"/>
                <a:cs typeface="Cairo"/>
                <a:sym typeface="Cairo"/>
              </a:rPr>
              <a:t>• مراقبة حركة الشبكة المستمرة وتفعيل جدران الحماية النارية.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742950" y="1903697"/>
            <a:ext cx="35575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534C5A"/>
                </a:solidFill>
                <a:latin typeface="Cairo"/>
                <a:ea typeface="Cairo"/>
                <a:cs typeface="Cairo"/>
                <a:sym typeface="Cairo"/>
              </a:rPr>
              <a:t>• تتبع الأحداث الأمنية وتحليل السجلات بشكل فوري للاستجابة للحوادث.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742950" y="2160872"/>
            <a:ext cx="35575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534C5A"/>
                </a:solidFill>
                <a:latin typeface="Cairo"/>
                <a:ea typeface="Cairo"/>
                <a:cs typeface="Cairo"/>
                <a:sym typeface="Cairo"/>
              </a:rPr>
              <a:t>• تفعيل تقنيات التشفير المتقدمة للبيانات الثابتة والمتنقلة.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84666" y="435769"/>
            <a:ext cx="8273534" cy="43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أدوار الأمن السيبراني </a:t>
            </a:r>
            <a:r>
              <a:rPr b="0" i="0" lang="ar" sz="18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الهجومية والدفاعية</a:t>
            </a: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b="0" i="0" lang="ar" sz="1800" u="none" cap="none" strike="noStrike">
                <a:solidFill>
                  <a:srgbClr val="8E839C"/>
                </a:solidFill>
                <a:latin typeface="Cairo Medium"/>
                <a:ea typeface="Cairo Medium"/>
                <a:cs typeface="Cairo Medium"/>
                <a:sym typeface="Cairo Medium"/>
              </a:rPr>
              <a:t>Red Teaming vs. Blue Teaming Strategies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8529638" y="435769"/>
            <a:ext cx="35719" cy="439229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2181" y="2219808"/>
            <a:ext cx="2543175" cy="1178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00413" y="2219808"/>
            <a:ext cx="2543175" cy="1178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644" y="2219808"/>
            <a:ext cx="2543175" cy="1178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3584376" y="4797028"/>
            <a:ext cx="103941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Threat Data (2026)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578644" y="4789884"/>
            <a:ext cx="10001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6172200" y="2405546"/>
            <a:ext cx="224313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ar" sz="2900" u="none" cap="none" strike="noStrike">
                <a:solidFill>
                  <a:srgbClr val="734F9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11.3M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6172200" y="2819883"/>
            <a:ext cx="224313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ar" sz="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محاولات الاختراق السنوية المكتشفة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6172200" y="3055627"/>
            <a:ext cx="22431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Cairo"/>
                <a:ea typeface="Cairo"/>
                <a:cs typeface="Cairo"/>
                <a:sym typeface="Cairo"/>
              </a:rPr>
              <a:t>تزايد في الهجمات العشوائية الموجهة للشركات التقنية الناشئة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3450431" y="2405546"/>
            <a:ext cx="224313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ar" sz="2900" u="none" cap="none" strike="noStrike">
                <a:solidFill>
                  <a:srgbClr val="EDA15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4.2M$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3450431" y="2819883"/>
            <a:ext cx="224313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ar" sz="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متوسط تكلفة تسريب البيانات للمنشأة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3450431" y="3055627"/>
            <a:ext cx="22431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Cairo"/>
                <a:ea typeface="Cairo"/>
                <a:cs typeface="Cairo"/>
                <a:sym typeface="Cairo"/>
              </a:rPr>
              <a:t>تشمل تكاليف معالجة الأثر التشغيلي والغرامات القانونية للشركات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728663" y="2405546"/>
            <a:ext cx="224313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ar" sz="2900" u="none" cap="none" strike="noStrike">
                <a:solidFill>
                  <a:srgbClr val="734F9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78%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728663" y="2819883"/>
            <a:ext cx="224313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ar" sz="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نسبة الثغرات الناتجة عن الهندسة الاجتماعية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728663" y="3055627"/>
            <a:ext cx="224313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Cairo"/>
                <a:ea typeface="Cairo"/>
                <a:cs typeface="Cairo"/>
                <a:sym typeface="Cairo"/>
              </a:rPr>
              <a:t>أهمية برامج التدريب ورفع الوعي البشري داخل بيئات العمل الريادية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184666" y="435769"/>
            <a:ext cx="8273534" cy="43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تنامي تهديدات الأمن </a:t>
            </a:r>
            <a:r>
              <a:rPr b="0" i="0" lang="ar" sz="18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السيبراني عالمياً</a:t>
            </a: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b="0" i="0" lang="ar" sz="1800" u="none" cap="none" strike="noStrike">
                <a:solidFill>
                  <a:srgbClr val="8E839C"/>
                </a:solidFill>
                <a:latin typeface="Cairo Medium"/>
                <a:ea typeface="Cairo Medium"/>
                <a:cs typeface="Cairo Medium"/>
                <a:sym typeface="Cairo Medium"/>
              </a:rPr>
              <a:t>Global Cyber Threat Intelligence Dashboard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8529638" y="435769"/>
            <a:ext cx="35719" cy="439229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1053591"/>
            <a:ext cx="7986713" cy="1964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 txBox="1"/>
          <p:nvPr/>
        </p:nvSpPr>
        <p:spPr>
          <a:xfrm>
            <a:off x="3455789" y="4797028"/>
            <a:ext cx="126801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Standards &amp; Frameworks Matrix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578644" y="4789884"/>
            <a:ext cx="7143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8" name="Google Shape;298;p23"/>
          <p:cNvGraphicFramePr/>
          <p:nvPr/>
        </p:nvGraphicFramePr>
        <p:xfrm>
          <a:off x="585788" y="10607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{77D11A7E-7252-4D57-88C8-AF6385D00162}</a:tableStyleId>
              </a:tblPr>
              <a:tblGrid>
                <a:gridCol w="1244125"/>
                <a:gridCol w="1727550"/>
                <a:gridCol w="3265025"/>
                <a:gridCol w="1735700"/>
              </a:tblGrid>
              <a:tr h="390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FFFFFF"/>
                          </a:solidFill>
                          <a:latin typeface="Cairo SemiBold"/>
                          <a:ea typeface="Cairo SemiBold"/>
                          <a:cs typeface="Cairo SemiBold"/>
                          <a:sym typeface="Cairo SemiBold"/>
                        </a:rPr>
                        <a:t>اسم الإطار / المعيار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34F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FFFFFF"/>
                          </a:solidFill>
                          <a:latin typeface="Cairo SemiBold"/>
                          <a:ea typeface="Cairo SemiBold"/>
                          <a:cs typeface="Cairo SemiBold"/>
                          <a:sym typeface="Cairo SemiBold"/>
                        </a:rPr>
                        <a:t>الجهة المصدرة والهدف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34F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FFFFFF"/>
                          </a:solidFill>
                          <a:latin typeface="Cairo SemiBold"/>
                          <a:ea typeface="Cairo SemiBold"/>
                          <a:cs typeface="Cairo SemiBold"/>
                          <a:sym typeface="Cairo SemiBold"/>
                        </a:rPr>
                        <a:t>التركيز الفني والتطبيقي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34F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FFFFFF"/>
                          </a:solidFill>
                          <a:latin typeface="Cairo SemiBold"/>
                          <a:ea typeface="Cairo SemiBold"/>
                          <a:cs typeface="Cairo SemiBold"/>
                          <a:sym typeface="Cairo SemiBold"/>
                        </a:rPr>
                        <a:t>المستوى المستهدف للمشروع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34F96"/>
                    </a:solidFill>
                  </a:tcPr>
                </a:tc>
              </a:tr>
              <a:tr h="390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ISO/IEC 27001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المنظمة الدولية للمواصفات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بناء نظام شامل وصارم لإدارة أمن المعلومات (ISMS).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ar" sz="800" u="none" cap="none" strike="noStrike">
                          <a:solidFill>
                            <a:srgbClr val="734F96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معياري وعالمي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NIST Cybersecurity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المعهد الوطني للمعايير والتقنية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أدوات تقييم المرونة الأمنية وتحديد استراتيجيات الاستجابة.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ar" sz="800" u="none" cap="none" strike="noStrike">
                          <a:solidFill>
                            <a:srgbClr val="734F96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مرن وعملي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ECC (الهيئة الوطنية)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هيئة الأمن السيبراني بالمملكة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الضوابط الأساسية لحماية البيانات الوطنية والأنظمة الحساسة.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ar" sz="800" u="none" cap="none" strike="noStrike">
                          <a:solidFill>
                            <a:srgbClr val="734F96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إلزامي ومحلي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PCI-DSS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مجلس معايير أمن البيانات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ar" sz="800" u="none" cap="none" strike="noStrike">
                          <a:solidFill>
                            <a:srgbClr val="4A425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تأمين عمليات الدفع الإلكتروني وتفاصيل البطاقات الائتمانية للعملاء.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ar" sz="800" u="none" cap="none" strike="noStrike">
                          <a:solidFill>
                            <a:srgbClr val="734F96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تخصصي مالي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9" name="Google Shape;299;p23"/>
          <p:cNvSpPr/>
          <p:nvPr/>
        </p:nvSpPr>
        <p:spPr>
          <a:xfrm>
            <a:off x="7314083" y="1828688"/>
            <a:ext cx="1244129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5586524" y="1828688"/>
            <a:ext cx="1727559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2321495" y="1828688"/>
            <a:ext cx="3265028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585788" y="1828688"/>
            <a:ext cx="1735708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7314083" y="2221595"/>
            <a:ext cx="1244129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5586524" y="2221595"/>
            <a:ext cx="1727559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2321495" y="2221595"/>
            <a:ext cx="3265028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585788" y="2221595"/>
            <a:ext cx="1735708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7314083" y="2614501"/>
            <a:ext cx="1244129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5586524" y="2614501"/>
            <a:ext cx="1727559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2321495" y="2614501"/>
            <a:ext cx="3265028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585788" y="2614501"/>
            <a:ext cx="1735708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184666" y="435769"/>
            <a:ext cx="8273534" cy="43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أطر الامتثال </a:t>
            </a:r>
            <a:r>
              <a:rPr b="0" i="0" lang="ar" sz="18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والمعايير المعتمدة</a:t>
            </a: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b="0" i="0" lang="ar" sz="1800" u="none" cap="none" strike="noStrike">
                <a:solidFill>
                  <a:srgbClr val="8E839C"/>
                </a:solidFill>
                <a:latin typeface="Cairo Medium"/>
                <a:ea typeface="Cairo Medium"/>
                <a:cs typeface="Cairo Medium"/>
                <a:sym typeface="Cairo Medium"/>
              </a:rPr>
              <a:t>Standard Cybersecurity Compliance Frameworks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8529638" y="435769"/>
            <a:ext cx="35719" cy="439229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7469" y="1820210"/>
            <a:ext cx="3929063" cy="1907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644" y="4707731"/>
            <a:ext cx="7986713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3437" y="4788694"/>
            <a:ext cx="706754" cy="35480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 txBox="1"/>
          <p:nvPr/>
        </p:nvSpPr>
        <p:spPr>
          <a:xfrm>
            <a:off x="7529513" y="4772025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i="0" lang="ar" sz="600" u="none" cap="none" strike="noStrike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3434357" y="4797028"/>
            <a:ext cx="132516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ar" sz="600" u="none" cap="none" strike="noStrike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Corporate Support &amp; Academics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578644" y="4789884"/>
            <a:ext cx="8572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ar" sz="700" u="none" cap="none" strike="noStrike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4"/>
          <p:cNvSpPr txBox="1"/>
          <p:nvPr/>
        </p:nvSpPr>
        <p:spPr>
          <a:xfrm>
            <a:off x="2779276" y="2112652"/>
            <a:ext cx="3585448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ar" sz="1200" u="none" cap="none" strike="noStrike">
                <a:solidFill>
                  <a:srgbClr val="17101E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نسعد دائماً بمناقشة واستفسارات متدربينا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2864644" y="2498414"/>
            <a:ext cx="3414713" cy="7144"/>
          </a:xfrm>
          <a:prstGeom prst="rect">
            <a:avLst/>
          </a:prstGeom>
          <a:solidFill>
            <a:srgbClr val="734F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7" name="Google Shape;32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5044" y="2659149"/>
            <a:ext cx="214313" cy="10715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4"/>
          <p:cNvSpPr txBox="1"/>
          <p:nvPr/>
        </p:nvSpPr>
        <p:spPr>
          <a:xfrm>
            <a:off x="5331618" y="2655576"/>
            <a:ext cx="792004" cy="12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info@rimalx.co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9" name="Google Shape;32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65044" y="2820335"/>
            <a:ext cx="214313" cy="10715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4"/>
          <p:cNvSpPr txBox="1"/>
          <p:nvPr/>
        </p:nvSpPr>
        <p:spPr>
          <a:xfrm>
            <a:off x="5343525" y="2838194"/>
            <a:ext cx="721519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www.rimalx.c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31" name="Google Shape;33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65044" y="2988998"/>
            <a:ext cx="214313" cy="10715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4"/>
          <p:cNvSpPr txBox="1"/>
          <p:nvPr/>
        </p:nvSpPr>
        <p:spPr>
          <a:xfrm>
            <a:off x="5501139" y="3024265"/>
            <a:ext cx="721519" cy="12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ar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@Rimal_x1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184666" y="435769"/>
            <a:ext cx="8273534" cy="720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الأسئلة والأجوبة </a:t>
            </a:r>
            <a:r>
              <a:rPr b="0" i="0" lang="ar" sz="1800" u="none" cap="none" strike="noStrike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وبوابات التواصل الرقمي</a:t>
            </a: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b="0" i="0" lang="ar" sz="1800" u="none" cap="none" strike="noStrike">
                <a:solidFill>
                  <a:srgbClr val="8E839C"/>
                </a:solidFill>
                <a:latin typeface="Cairo Medium"/>
                <a:ea typeface="Cairo Medium"/>
                <a:cs typeface="Cairo Medium"/>
                <a:sym typeface="Cairo Medium"/>
              </a:rPr>
              <a:t>Interactive Q&amp;A Session &amp; Curricular Contact Details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8529638" y="435769"/>
            <a:ext cx="35719" cy="439229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57575" y="2528207"/>
            <a:ext cx="1100589" cy="1212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5"/>
          <p:cNvSpPr/>
          <p:nvPr/>
        </p:nvSpPr>
        <p:spPr>
          <a:xfrm>
            <a:off x="578644" y="911497"/>
            <a:ext cx="7986713" cy="588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578644" y="1492932"/>
            <a:ext cx="7986713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578644" y="1492932"/>
            <a:ext cx="7986713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4" name="Google Shape;34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2419" y="1023565"/>
            <a:ext cx="64293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5"/>
          <p:cNvSpPr txBox="1"/>
          <p:nvPr/>
        </p:nvSpPr>
        <p:spPr>
          <a:xfrm>
            <a:off x="578644" y="1018654"/>
            <a:ext cx="7165181" cy="148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ar" sz="7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http://googleusercontent.com/image_collection/image_retrieval/14571158408203115441_0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578644" y="1202940"/>
            <a:ext cx="7165181" cy="182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Source: artificial intelligence neural network digital server room concept tech network lines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7" name="Google Shape;34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2419" y="1612143"/>
            <a:ext cx="64293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5"/>
          <p:cNvSpPr txBox="1"/>
          <p:nvPr/>
        </p:nvSpPr>
        <p:spPr>
          <a:xfrm>
            <a:off x="578644" y="1607232"/>
            <a:ext cx="7165181" cy="148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ar" sz="7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http://googleusercontent.com/image_collection/image_retrieval/17099866859092753682_0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5"/>
          <p:cNvSpPr txBox="1"/>
          <p:nvPr/>
        </p:nvSpPr>
        <p:spPr>
          <a:xfrm>
            <a:off x="578644" y="1791518"/>
            <a:ext cx="7165181" cy="182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Source: cyber security data protection lock abstract technology glowing matrix background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216098" y="443014"/>
            <a:ext cx="8275319" cy="360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ar" sz="1800" u="none" cap="none" strike="noStrike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Sources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90190" y="467250"/>
            <a:ext cx="35719" cy="297135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"/>
          <p:cNvSpPr/>
          <p:nvPr/>
        </p:nvSpPr>
        <p:spPr>
          <a:xfrm>
            <a:off x="8529638" y="435769"/>
            <a:ext cx="35700" cy="439200"/>
          </a:xfrm>
          <a:prstGeom prst="rect">
            <a:avLst/>
          </a:prstGeom>
          <a:solidFill>
            <a:srgbClr val="EDA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184666" y="435769"/>
            <a:ext cx="8273400" cy="43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800">
                <a:solidFill>
                  <a:srgbClr val="17101E"/>
                </a:solidFill>
                <a:latin typeface="Cairo"/>
                <a:ea typeface="Cairo"/>
                <a:cs typeface="Cairo"/>
                <a:sym typeface="Cairo"/>
              </a:rPr>
              <a:t>المصادر والمراجع </a:t>
            </a:r>
            <a:r>
              <a:rPr b="0" lang="ar" sz="1800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Sources &amp; References</a:t>
            </a:r>
            <a:endParaRPr b="1" sz="1800">
              <a:solidFill>
                <a:srgbClr val="17101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358" name="Google Shape;358;p26"/>
          <p:cNvGrpSpPr/>
          <p:nvPr/>
        </p:nvGrpSpPr>
        <p:grpSpPr>
          <a:xfrm>
            <a:off x="762000" y="1333500"/>
            <a:ext cx="3619500" cy="2952900"/>
            <a:chOff x="762000" y="1333500"/>
            <a:chExt cx="3619500" cy="2952900"/>
          </a:xfrm>
        </p:grpSpPr>
        <p:sp>
          <p:nvSpPr>
            <p:cNvPr id="359" name="Google Shape;359;p26"/>
            <p:cNvSpPr/>
            <p:nvPr/>
          </p:nvSpPr>
          <p:spPr>
            <a:xfrm>
              <a:off x="762000" y="1333500"/>
              <a:ext cx="3619500" cy="29529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0" name="Google Shape;360;p26"/>
            <p:cNvPicPr preferRelativeResize="0"/>
            <p:nvPr/>
          </p:nvPicPr>
          <p:blipFill rotWithShape="1">
            <a:blip r:embed="rId4">
              <a:alphaModFix/>
            </a:blip>
            <a:srcRect b="11071" l="0" r="0" t="11071"/>
            <a:stretch/>
          </p:blipFill>
          <p:spPr>
            <a:xfrm>
              <a:off x="952500" y="1524000"/>
              <a:ext cx="3238500" cy="1428900"/>
            </a:xfrm>
            <a:prstGeom prst="roundRect">
              <a:avLst>
                <a:gd fmla="val 8000" name="adj"/>
              </a:avLst>
            </a:prstGeom>
            <a:noFill/>
            <a:ln>
              <a:noFill/>
            </a:ln>
          </p:spPr>
        </p:pic>
        <p:sp>
          <p:nvSpPr>
            <p:cNvPr id="361" name="Google Shape;361;p26"/>
            <p:cNvSpPr txBox="1"/>
            <p:nvPr/>
          </p:nvSpPr>
          <p:spPr>
            <a:xfrm>
              <a:off x="952500" y="3095625"/>
              <a:ext cx="3238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" sz="1085">
                  <a:solidFill>
                    <a:srgbClr val="734F96"/>
                  </a:solidFill>
                  <a:latin typeface="Cairo"/>
                  <a:ea typeface="Cairo"/>
                  <a:cs typeface="Cairo"/>
                  <a:sym typeface="Cairo"/>
                </a:rPr>
                <a:t>medium.com</a:t>
              </a:r>
              <a:endParaRPr b="1" sz="1085">
                <a:solidFill>
                  <a:srgbClr val="734F96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ar" sz="698">
                  <a:solidFill>
                    <a:srgbClr val="8E839C"/>
                  </a:solidFill>
                  <a:latin typeface="Cairo"/>
                  <a:ea typeface="Cairo"/>
                  <a:cs typeface="Cairo"/>
                  <a:sym typeface="Cairo"/>
                </a:rPr>
                <a:t>https://miro.medium.com/v2/resize:fit:1400/1*3sT9az_B6qJyMD849YcW9w.png</a:t>
              </a:r>
              <a:endParaRPr b="0" sz="698">
                <a:solidFill>
                  <a:srgbClr val="8E839C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362" name="Google Shape;362;p26"/>
          <p:cNvGrpSpPr/>
          <p:nvPr/>
        </p:nvGrpSpPr>
        <p:grpSpPr>
          <a:xfrm>
            <a:off x="4762500" y="1333500"/>
            <a:ext cx="3619500" cy="2952900"/>
            <a:chOff x="4762500" y="1333500"/>
            <a:chExt cx="3619500" cy="2952900"/>
          </a:xfrm>
        </p:grpSpPr>
        <p:sp>
          <p:nvSpPr>
            <p:cNvPr id="363" name="Google Shape;363;p26"/>
            <p:cNvSpPr/>
            <p:nvPr/>
          </p:nvSpPr>
          <p:spPr>
            <a:xfrm>
              <a:off x="4762500" y="1333500"/>
              <a:ext cx="3619500" cy="29529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4" name="Google Shape;364;p26"/>
            <p:cNvPicPr preferRelativeResize="0"/>
            <p:nvPr/>
          </p:nvPicPr>
          <p:blipFill rotWithShape="1">
            <a:blip r:embed="rId5">
              <a:alphaModFix/>
            </a:blip>
            <a:srcRect b="11071" l="0" r="0" t="11071"/>
            <a:stretch/>
          </p:blipFill>
          <p:spPr>
            <a:xfrm>
              <a:off x="4953000" y="1524000"/>
              <a:ext cx="3238500" cy="1428900"/>
            </a:xfrm>
            <a:prstGeom prst="roundRect">
              <a:avLst>
                <a:gd fmla="val 8000" name="adj"/>
              </a:avLst>
            </a:prstGeom>
            <a:noFill/>
            <a:ln>
              <a:noFill/>
            </a:ln>
          </p:spPr>
        </p:pic>
        <p:sp>
          <p:nvSpPr>
            <p:cNvPr id="365" name="Google Shape;365;p26"/>
            <p:cNvSpPr txBox="1"/>
            <p:nvPr/>
          </p:nvSpPr>
          <p:spPr>
            <a:xfrm>
              <a:off x="4953000" y="3095625"/>
              <a:ext cx="3238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" sz="1190">
                  <a:solidFill>
                    <a:srgbClr val="734F96"/>
                  </a:solidFill>
                  <a:latin typeface="Cairo"/>
                  <a:ea typeface="Cairo"/>
                  <a:cs typeface="Cairo"/>
                  <a:sym typeface="Cairo"/>
                </a:rPr>
                <a:t>www.presentationgo.com</a:t>
              </a:r>
              <a:endParaRPr b="1" sz="1190">
                <a:solidFill>
                  <a:srgbClr val="734F96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ar" sz="765">
                  <a:solidFill>
                    <a:srgbClr val="8E839C"/>
                  </a:solidFill>
                  <a:latin typeface="Cairo"/>
                  <a:ea typeface="Cairo"/>
                  <a:cs typeface="Cairo"/>
                  <a:sym typeface="Cairo"/>
                </a:rPr>
                <a:t>https://images.presentationgo.com/2025/06/cybersecurity-lock-symbol.jpg</a:t>
              </a:r>
              <a:endParaRPr b="0" sz="765">
                <a:solidFill>
                  <a:srgbClr val="8E839C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pic>
        <p:nvPicPr>
          <p:cNvPr id="366" name="Google Shape;366;p26"/>
          <p:cNvPicPr preferRelativeResize="0"/>
          <p:nvPr/>
        </p:nvPicPr>
        <p:blipFill rotWithShape="1">
          <a:blip r:embed="rId6">
            <a:alphaModFix/>
          </a:blip>
          <a:srcRect b="0" l="90" r="90" t="0"/>
          <a:stretch/>
        </p:blipFill>
        <p:spPr>
          <a:xfrm>
            <a:off x="578644" y="4707731"/>
            <a:ext cx="7986600" cy="1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6"/>
          <p:cNvSpPr txBox="1"/>
          <p:nvPr/>
        </p:nvSpPr>
        <p:spPr>
          <a:xfrm>
            <a:off x="7529513" y="4772025"/>
            <a:ext cx="1035900" cy="14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ar" sz="600">
                <a:solidFill>
                  <a:srgbClr val="734F96"/>
                </a:solidFill>
                <a:latin typeface="Cairo Medium"/>
                <a:ea typeface="Cairo Medium"/>
                <a:cs typeface="Cairo Medium"/>
                <a:sym typeface="Cairo Medium"/>
              </a:rPr>
              <a:t>حاضنة ومسرعة أعمال </a:t>
            </a:r>
            <a:r>
              <a:rPr b="0" lang="ar" sz="600">
                <a:solidFill>
                  <a:srgbClr val="EDA155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RIMAL X</a:t>
            </a:r>
            <a:endParaRPr b="0" sz="600">
              <a:solidFill>
                <a:srgbClr val="734F96"/>
              </a:solidFill>
              <a:latin typeface="Cairo Medium"/>
              <a:ea typeface="Cairo Medium"/>
              <a:cs typeface="Cairo Medium"/>
              <a:sym typeface="Cairo Medium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3455784" y="4797028"/>
            <a:ext cx="1268100" cy="9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ar" sz="600">
                <a:solidFill>
                  <a:srgbClr val="8E83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Sources &amp; References</a:t>
            </a:r>
            <a:endParaRPr b="0" sz="600">
              <a:solidFill>
                <a:srgbClr val="8E839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578644" y="4789884"/>
            <a:ext cx="99900" cy="10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700">
                <a:solidFill>
                  <a:srgbClr val="734F9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</a:t>
            </a:r>
            <a:endParaRPr b="1" sz="700">
              <a:solidFill>
                <a:srgbClr val="734F9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70" name="Google Shape;370;p26"/>
          <p:cNvPicPr preferRelativeResize="0"/>
          <p:nvPr/>
        </p:nvPicPr>
        <p:blipFill rotWithShape="1">
          <a:blip r:embed="rId7">
            <a:alphaModFix/>
          </a:blip>
          <a:srcRect b="7849" l="0" r="0" t="7849"/>
          <a:stretch/>
        </p:blipFill>
        <p:spPr>
          <a:xfrm>
            <a:off x="8453438" y="4788694"/>
            <a:ext cx="706800" cy="3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